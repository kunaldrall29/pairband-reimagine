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7492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74920" y="0"/>
            <a:ext cx="88900" cy="6858000"/>
          </a:xfrm>
          <a:prstGeom prst="rect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ir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94360"/>
            <a:ext cx="713232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FB3A5"/>
                </a:solidFill>
                <a:latin typeface="IBM Plex Mono"/>
              </a:rPr>
              <a:t>STABLECOIN LAUNCHPAD ON ARC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4023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5F5F2"/>
                </a:solidFill>
                <a:latin typeface="Manrope"/>
              </a:rPr>
              <a:t>Cover the downside.
Keep the upside.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DDDCD5"/>
                </a:solidFill>
                <a:latin typeface="Manrope"/>
              </a:rPr>
              <a:t>Pay USDC from any CCTP chain. Fill the Arc book. Tokens never leave.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1206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4A574"/>
                </a:solidFill>
                <a:latin typeface="IBM Plex Mono"/>
              </a:rPr>
              <a:t>Pitch deck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FB3A5"/>
                </a:solidFill>
                <a:latin typeface="IBM Plex Mono"/>
              </a:rPr>
              <a:t>Mainnet target · 26 September 2026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DDDCD5"/>
                </a:solidFill>
                <a:latin typeface="IBM Plex Mono"/>
              </a:rPr>
              <a:t>Live testnet · pairband.com</a:t>
            </a:r>
          </a:p>
        </p:txBody>
      </p:sp>
      <p:pic>
        <p:nvPicPr>
          <p:cNvPr id="10" name="Picture 9" descr="pairband-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822960"/>
            <a:ext cx="6309360" cy="331241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394960" y="4892040"/>
            <a:ext cx="6309360" cy="123444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507492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C7369"/>
                </a:solidFill>
                <a:latin typeface="IBM Plex Mono"/>
              </a:rPr>
              <a:t>Check it out live on testnet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A1A"/>
                </a:solidFill>
                <a:latin typeface="Manrope"/>
              </a:rPr>
              <a:t>pairband.com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Create · buy · sell on Arc — wallet connected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C7369"/>
                </a:solidFill>
                <a:latin typeface="IBM Plex Mono"/>
              </a:rPr>
              <a:t>01  ·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A1A1A"/>
                </a:solidFill>
                <a:latin typeface="Manrope"/>
              </a:rPr>
              <a:t>Launches price risk into the quote asset
and abandon markets after the curve.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48840"/>
            <a:ext cx="5440680" cy="169164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48840"/>
            <a:ext cx="76200" cy="1691640"/>
          </a:xfrm>
          <a:prstGeom prst="rect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C7369"/>
                </a:solidFill>
                <a:latin typeface="IBM Plex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A1A"/>
                </a:solidFill>
                <a:latin typeface="Manrope"/>
              </a:rPr>
              <a:t>Volatile quote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ETH/SOL launches force traders to hold gas-token risk on every fill — before token risk even begins.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48840"/>
            <a:ext cx="5440680" cy="169164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148840"/>
            <a:ext cx="76200" cy="1691640"/>
          </a:xfrm>
          <a:prstGeom prst="rect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3774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C7369"/>
                </a:solidFill>
                <a:latin typeface="IBM Plex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51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A1A"/>
                </a:solidFill>
                <a:latin typeface="Manrope"/>
              </a:rPr>
              <a:t>Liquidity that leaves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0632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Soft locks and unlock cliffs let early LP exit. Graduates land on empty pools.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59"/>
            <a:ext cx="5440680" cy="169164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59"/>
            <a:ext cx="76200" cy="1691640"/>
          </a:xfrm>
          <a:prstGeom prst="rect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5195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C7369"/>
                </a:solidFill>
                <a:latin typeface="IBM Plex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52627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A1A"/>
                </a:solidFill>
                <a:latin typeface="Manrope"/>
              </a:rPr>
              <a:t>No post-curve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937759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After the curve you get a thin AMM — no continuous on-chain book on the same ticket.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023359"/>
            <a:ext cx="5440680" cy="169164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4023359"/>
            <a:ext cx="76200" cy="1691640"/>
          </a:xfrm>
          <a:prstGeom prst="rect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25195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C7369"/>
                </a:solidFill>
                <a:latin typeface="IBM Plex Mono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52627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A1A"/>
                </a:solidFill>
                <a:latin typeface="Manrope"/>
              </a:rPr>
              <a:t>Fragmented USDC 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937759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CCTP moves USDC everywhere, but launches still demand a single native gas token.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382512"/>
            <a:ext cx="10881360" cy="19050"/>
          </a:xfrm>
          <a:prstGeom prst="rect">
            <a:avLst/>
          </a:prstGeom>
          <a:solidFill>
            <a:srgbClr val="DDD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pairband.com  ·  Arc testnet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6473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C7369"/>
                </a:solidFill>
                <a:latin typeface="IBM Plex Mono"/>
              </a:rPr>
              <a:t>02  · 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A1A1A"/>
                </a:solidFill>
                <a:latin typeface="Manrope"/>
              </a:rPr>
              <a:t>Pairband — USDC curve, locked LP, on-chain 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6860"/>
                </a:solidFill>
                <a:latin typeface="Manrope"/>
              </a:rPr>
              <a:t>One ticket. One quote asset. Settlement on Arc — where USDC is gas.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B3A5"/>
                </a:solidFill>
                <a:latin typeface="IBM Plex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F5F2"/>
                </a:solidFill>
                <a:latin typeface="Manrope"/>
              </a:rPr>
              <a:t>USDC in &amp;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2286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DDCD5"/>
                </a:solidFill>
                <a:latin typeface="Manrope"/>
              </a:rPr>
              <a:t>Create, trade, and pay gas in USDC on Arc. No wrapping theater.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28600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C7369"/>
                </a:solidFill>
                <a:latin typeface="IBM Plex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9260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A1A"/>
                </a:solidFill>
                <a:latin typeface="Manrope"/>
              </a:rPr>
              <a:t>Honest graduation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840480"/>
            <a:ext cx="2286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At $80 raised, inventory + USDC mint a pair. LP burns to dead. No unlock cliff.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28600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B3A5"/>
                </a:solidFill>
                <a:latin typeface="IBM Plex Mon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260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F5F2"/>
                </a:solidFill>
                <a:latin typeface="Manrope"/>
              </a:rPr>
              <a:t>Book on the ticket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840480"/>
            <a:ext cx="2286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DDCD5"/>
                </a:solidFill>
                <a:latin typeface="Manrope"/>
              </a:rPr>
              <a:t>On graduation an on-chain book opens. Markets walk price-time; residual hits the pair.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8600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C7369"/>
                </a:solidFill>
                <a:latin typeface="IBM Plex Mon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9260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A1A"/>
                </a:solidFill>
                <a:latin typeface="Manrope"/>
              </a:rPr>
              <a:t>CCTP-ready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840480"/>
            <a:ext cx="2286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Settler path so buyers can pay from CCTP chains and settle on Arc.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82512"/>
            <a:ext cx="10881360" cy="19050"/>
          </a:xfrm>
          <a:prstGeom prst="rect">
            <a:avLst/>
          </a:prstGeom>
          <a:solidFill>
            <a:srgbClr val="DDD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pairband.com  ·  Arc testnet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473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C7369"/>
                </a:solidFill>
                <a:latin typeface="IBM Plex Mono"/>
              </a:rPr>
              <a:t>03  ·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A1A1A"/>
                </a:solidFill>
                <a:latin typeface="Manrope"/>
              </a:rPr>
              <a:t>Curve. Pair. Lock.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1920240"/>
            <a:ext cx="640080" cy="640080"/>
          </a:xfrm>
          <a:prstGeom prst="ellipse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F5F2"/>
                </a:solidFill>
                <a:latin typeface="IBM Plex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8562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1A1A"/>
                </a:solidFill>
                <a:latin typeface="Manrope"/>
              </a:rPr>
              <a:t>Create on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286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6860"/>
                </a:solidFill>
                <a:latin typeface="Manrope"/>
              </a:rPr>
              <a:t>Name, ticker, optional first buy. 1B supply. $1 USDC launch fee. Quote is native Arc USDC — the same token that pays gas.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1752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3337560"/>
            <a:ext cx="640080" cy="640080"/>
          </a:xfrm>
          <a:prstGeom prst="ellipse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4747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F5F2"/>
                </a:solidFill>
                <a:latin typeface="IBM Plex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35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1A1A"/>
                </a:solidFill>
                <a:latin typeface="Manrope"/>
              </a:rPr>
              <a:t>Fill the USDC curve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703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6860"/>
                </a:solidFill>
                <a:latin typeface="Manrope"/>
              </a:rPr>
              <a:t>Constant-product bonding curve. 1.0% protocol + 0.5% creator, taken in USDC. Exit on the curve anytime before it fills.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3484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" y="4754880"/>
            <a:ext cx="640080" cy="640080"/>
          </a:xfrm>
          <a:prstGeom prst="ellipse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892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F5F2"/>
                </a:solidFill>
                <a:latin typeface="IBM Plex Mono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6908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A1A1A"/>
                </a:solidFill>
                <a:latin typeface="Manrope"/>
              </a:rPr>
              <a:t>Book, then Uniswap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6860"/>
                </a:solidFill>
                <a:latin typeface="Manrope"/>
              </a:rPr>
              <a:t>At $80, remaining inventory + USDC mint a locked pair. On-chain book opens. Markets walk the book; leftover hits the pair at 0.30%. LP → 0xdead.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82512"/>
            <a:ext cx="10881360" cy="19050"/>
          </a:xfrm>
          <a:prstGeom prst="rect">
            <a:avLst/>
          </a:prstGeom>
          <a:solidFill>
            <a:srgbClr val="DDD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pairband.com  ·  Arc testnet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473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C7369"/>
                </a:solidFill>
                <a:latin typeface="IBM Plex Mono"/>
              </a:rPr>
              <a:t>04  · 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A1A1A"/>
                </a:solidFill>
                <a:latin typeface="Manrope"/>
              </a:rPr>
              <a:t>The desk — Discover, create, trade.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611880" cy="4114800"/>
          </a:xfrm>
          <a:prstGeom prst="roundRect">
            <a:avLst>
              <a:gd name="adj" fmla="val 6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-dis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3337560" cy="1650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349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C7369"/>
                </a:solidFill>
                <a:latin typeface="IBM Plex Mono"/>
              </a:rPr>
              <a:t>Discover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554480"/>
            <a:ext cx="3611880" cy="4114800"/>
          </a:xfrm>
          <a:prstGeom prst="roundRect">
            <a:avLst>
              <a:gd name="adj" fmla="val 6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-tr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737360"/>
            <a:ext cx="3337560" cy="20859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17720" y="5349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C7369"/>
                </a:solidFill>
                <a:latin typeface="IBM Plex Mono"/>
              </a:rPr>
              <a:t>Trade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554480"/>
            <a:ext cx="3611880" cy="4114800"/>
          </a:xfrm>
          <a:prstGeom prst="roundRect">
            <a:avLst>
              <a:gd name="adj" fmla="val 6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pp-builder-p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737360"/>
            <a:ext cx="3337560" cy="20859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12480" y="5349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C7369"/>
                </a:solidFill>
                <a:latin typeface="IBM Plex Mono"/>
              </a:rPr>
              <a:t>Marketing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382512"/>
            <a:ext cx="10881360" cy="19050"/>
          </a:xfrm>
          <a:prstGeom prst="rect">
            <a:avLst/>
          </a:prstGeom>
          <a:solidFill>
            <a:srgbClr val="DDD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pairband.com  ·  Arc testnet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73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C7369"/>
                </a:solidFill>
                <a:latin typeface="IBM Plex Mono"/>
              </a:rPr>
              <a:t>05  ·  WHY PAIRBAND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A1A1A"/>
                </a:solidFill>
                <a:latin typeface="Manrope"/>
              </a:rPr>
              <a:t>Market structure as the product.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F5F2"/>
                </a:solidFill>
                <a:latin typeface="IBM Plex Mono"/>
              </a:rPr>
              <a:t>Dimension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DDCD5"/>
                </a:solidFill>
                <a:latin typeface="IBM Plex Mono"/>
              </a:rPr>
              <a:t>Typical launchpad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B3A5"/>
                </a:solidFill>
                <a:latin typeface="IBM Plex Mono"/>
              </a:rPr>
              <a:t>Pairband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57400"/>
            <a:ext cx="10881360" cy="566928"/>
          </a:xfrm>
          <a:prstGeom prst="rect">
            <a:avLst/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anrope"/>
              </a:rPr>
              <a:t>Quote asset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94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6860"/>
                </a:solidFill>
                <a:latin typeface="Manrope"/>
              </a:rPr>
              <a:t>Volatile gas 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1945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C7369"/>
                </a:solidFill>
                <a:latin typeface="Manrope"/>
              </a:rPr>
              <a:t>USDC (gas + quote)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79192"/>
            <a:ext cx="10881360" cy="566928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8163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anrope"/>
              </a:rPr>
              <a:t>Graduation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8163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6860"/>
                </a:solidFill>
                <a:latin typeface="Manrope"/>
              </a:rPr>
              <a:t>Optional / soft lock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816352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C7369"/>
                </a:solidFill>
                <a:latin typeface="Manrope"/>
              </a:rPr>
              <a:t>Hard threshold · LP burned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00984"/>
            <a:ext cx="10881360" cy="566928"/>
          </a:xfrm>
          <a:prstGeom prst="rect">
            <a:avLst/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3814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anrope"/>
              </a:rPr>
              <a:t>Post-curve venue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43814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6860"/>
                </a:solidFill>
                <a:latin typeface="Manrope"/>
              </a:rPr>
              <a:t>Thin AMM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438144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C7369"/>
                </a:solidFill>
                <a:latin typeface="Manrope"/>
              </a:rPr>
              <a:t>On-chain book + AMM residual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22776"/>
            <a:ext cx="10881360" cy="566928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05993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anrope"/>
              </a:rPr>
              <a:t>Fees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405993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6860"/>
                </a:solidFill>
                <a:latin typeface="Manrope"/>
              </a:rPr>
              <a:t>Opaque token cuts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059936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C7369"/>
                </a:solidFill>
                <a:latin typeface="Manrope"/>
              </a:rPr>
              <a:t>Transparent USDC fees on curve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544568"/>
            <a:ext cx="10881360" cy="566928"/>
          </a:xfrm>
          <a:prstGeom prst="rect">
            <a:avLst/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681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anrope"/>
              </a:rPr>
              <a:t>Settlement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6817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6860"/>
                </a:solidFill>
                <a:latin typeface="Manrope"/>
              </a:rPr>
              <a:t>Single-chain silo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681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C7369"/>
                </a:solidFill>
                <a:latin typeface="Manrope"/>
              </a:rPr>
              <a:t>Arc home · CCTP ingest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166360"/>
            <a:ext cx="10881360" cy="566928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3035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A1A1A"/>
                </a:solidFill>
                <a:latin typeface="Manrope"/>
              </a:rPr>
              <a:t>UX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5303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6860"/>
                </a:solidFill>
                <a:latin typeface="Manrope"/>
              </a:rPr>
              <a:t>Casino chrome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53035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C7369"/>
                </a:solidFill>
                <a:latin typeface="Manrope"/>
              </a:rPr>
              <a:t>Paper desk — Pairband brand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382512"/>
            <a:ext cx="10881360" cy="19050"/>
          </a:xfrm>
          <a:prstGeom prst="rect">
            <a:avLst/>
          </a:prstGeom>
          <a:solidFill>
            <a:srgbClr val="DDD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pairband.com  ·  Arc testnet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6473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C7369"/>
                </a:solidFill>
                <a:latin typeface="IBM Plex Mono"/>
              </a:rPr>
              <a:t>06  · 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A1A1A"/>
                </a:solidFill>
                <a:latin typeface="Manrope"/>
              </a:rPr>
              <a:t>Contracts on Arc. App that speaks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4FB3A5"/>
                </a:solidFill>
                <a:latin typeface="Manrope"/>
              </a:rPr>
              <a:t>On-chain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DDDCD5"/>
                </a:solidFill>
                <a:latin typeface="Manrope"/>
              </a:rPr>
              <a:t>▸  Launchpad — create / buy / sell / graduate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DDDCD5"/>
                </a:solidFill>
                <a:latin typeface="Manrope"/>
              </a:rPr>
              <a:t>▸  Constant-product USDC curve (6-dec)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DDDCD5"/>
                </a:solidFill>
                <a:latin typeface="Manrope"/>
              </a:rPr>
              <a:t>▸  AMM factory + pair — LP burned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DDDCD5"/>
                </a:solidFill>
                <a:latin typeface="Manrope"/>
              </a:rPr>
              <a:t>▸  On-chain order book (price-time)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DDDCD5"/>
                </a:solidFill>
                <a:latin typeface="Manrope"/>
              </a:rPr>
              <a:t>▸  Settler — CCTP ingest / settle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DDDCD5"/>
                </a:solidFill>
                <a:latin typeface="Manrope"/>
              </a:rPr>
              <a:t>▸  Arc testnet 5042002 · mainnet-ready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55448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C7369"/>
                </a:solidFill>
                <a:latin typeface="Manrope"/>
              </a:rP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33172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TanStack Start + React 19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wagmi / viem wallet path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Discover syncs live launches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Create / trade default to Arc txs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Local preview mirrors curve math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docs.pairband.com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55448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1783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C7369"/>
                </a:solidFill>
                <a:latin typeface="Manrope"/>
              </a:rPr>
              <a:t>Principles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33172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No proxies on the launchpad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CEI + reentrancy lock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Fees capped in bytecode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USDC as gas and quote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Same bytecode test → main</a:t>
            </a:r>
          </a:p>
          <a:p>
            <a:pPr>
              <a:spcAft>
                <a:spcPts val="9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▸  Ops keys never in the browser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382512"/>
            <a:ext cx="10881360" cy="19050"/>
          </a:xfrm>
          <a:prstGeom prst="rect">
            <a:avLst/>
          </a:prstGeom>
          <a:solidFill>
            <a:srgbClr val="DDD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pairband.com  ·  Arc testnet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73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C7369"/>
                </a:solidFill>
                <a:latin typeface="IBM Plex Mono"/>
              </a:rPr>
              <a:t>07  · 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A1A1A"/>
                </a:solidFill>
                <a:latin typeface="Manrope"/>
              </a:rPr>
              <a:t>Fees in the asset everyone already holds.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697480" cy="2103120"/>
          </a:xfrm>
          <a:prstGeom prst="roundRect">
            <a:avLst>
              <a:gd name="adj" fmla="val 8000"/>
            </a:avLst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5F5F2"/>
                </a:solidFill>
                <a:latin typeface="Manrope"/>
              </a:rPr>
              <a:t>$1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2"/>
                </a:solidFill>
                <a:latin typeface="Manrope"/>
              </a:rPr>
              <a:t>Launch fee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DDDCD5"/>
                </a:solidFill>
                <a:latin typeface="Manrope"/>
              </a:rPr>
              <a:t>USDC on create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554480"/>
            <a:ext cx="2697480" cy="210312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783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A1A1A"/>
                </a:solidFill>
                <a:latin typeface="Manrope"/>
              </a:rPr>
              <a:t>1.0%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</a:rPr>
              <a:t>Protocol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Of curve volume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554480"/>
            <a:ext cx="2697480" cy="210312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783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A1A1A"/>
                </a:solidFill>
                <a:latin typeface="Manrope"/>
              </a:rPr>
              <a:t>0.5%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</a:rPr>
              <a:t>Creator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Of curve volume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554480"/>
            <a:ext cx="2697480" cy="210312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783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A1A1A"/>
                </a:solidFill>
                <a:latin typeface="Manrope"/>
              </a:rPr>
              <a:t>0.30%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</a:rPr>
              <a:t>Post-grad AMM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860"/>
                </a:solidFill>
                <a:latin typeface="Manrope"/>
              </a:rPr>
              <a:t>Pair 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31920"/>
            <a:ext cx="10881360" cy="201168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160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4FB3A5"/>
                </a:solidFill>
                <a:latin typeface="IBM Plex Mono"/>
              </a:rPr>
              <a:t>UNIT ECONOMICS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1772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DDDCD5"/>
                </a:solidFill>
                <a:latin typeface="Manrope"/>
              </a:rPr>
              <a:t>▸  Protocol earns on curve volume — not inflationary emissions.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DDDCD5"/>
                </a:solidFill>
                <a:latin typeface="Manrope"/>
              </a:rPr>
              <a:t>▸  Creators earn 0.5% of their own volume — incentive to ship real markets.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DDDCD5"/>
                </a:solidFill>
                <a:latin typeface="Manrope"/>
              </a:rPr>
              <a:t>▸  Graduation burns LP — Pairband does not extract unlock value from trapped liquidity.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382512"/>
            <a:ext cx="10881360" cy="19050"/>
          </a:xfrm>
          <a:prstGeom prst="rect">
            <a:avLst/>
          </a:prstGeom>
          <a:solidFill>
            <a:srgbClr val="DDD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pairband.com  ·  Arc testnet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473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C7369"/>
                </a:solidFill>
                <a:latin typeface="IBM Plex Mono"/>
              </a:rPr>
              <a:t>08  ·  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A1A1A"/>
                </a:solidFill>
                <a:latin typeface="Manrope"/>
              </a:rPr>
              <a:t>Ship where USDC already settles.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2286000" cy="960120"/>
          </a:xfrm>
          <a:prstGeom prst="roundRect">
            <a:avLst>
              <a:gd name="adj" fmla="val 10000"/>
            </a:avLst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4708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2"/>
                </a:solidFill>
                <a:latin typeface="Manrope"/>
              </a:rPr>
              <a:t>Beachhead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554480"/>
            <a:ext cx="8458200" cy="960120"/>
          </a:xfrm>
          <a:prstGeom prst="roundRect">
            <a:avLst>
              <a:gd name="adj" fmla="val 10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719072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Manrope"/>
              </a:rPr>
              <a:t>Arc builders &amp; USDC-native traders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0574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Live testnet at pairband.com — docs, smoke markets, wallet-connected create/trade.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51760"/>
            <a:ext cx="2286000" cy="960120"/>
          </a:xfrm>
          <a:prstGeom prst="roundRect">
            <a:avLst>
              <a:gd name="adj" fmla="val 10000"/>
            </a:avLst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4436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2"/>
                </a:solidFill>
                <a:latin typeface="Manrope"/>
              </a:rPr>
              <a:t>Creator wedge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63240" y="2651760"/>
            <a:ext cx="8458200" cy="960120"/>
          </a:xfrm>
          <a:prstGeom prst="roundRect">
            <a:avLst>
              <a:gd name="adj" fmla="val 10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816352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Manrope"/>
              </a:rPr>
              <a:t>Teams who want locked LP + a real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1546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Graduate without unlock politics. Keep a CLOB on the same ticker.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40"/>
            <a:ext cx="2286000" cy="960120"/>
          </a:xfrm>
          <a:prstGeom prst="roundRect">
            <a:avLst>
              <a:gd name="adj" fmla="val 10000"/>
            </a:avLst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4164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2"/>
                </a:solidFill>
                <a:latin typeface="Manrope"/>
              </a:rPr>
              <a:t>Distribution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63240" y="3749040"/>
            <a:ext cx="8458200" cy="960120"/>
          </a:xfrm>
          <a:prstGeom prst="roundRect">
            <a:avLst>
              <a:gd name="adj" fmla="val 10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3913632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Manrope"/>
              </a:rPr>
              <a:t>Arc / Circle / CCTP ecosystem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2519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Co-market with Arc campaigns. “Pay from anywhere, settle on Arc.”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846320"/>
            <a:ext cx="2286000" cy="960120"/>
          </a:xfrm>
          <a:prstGeom prst="roundRect">
            <a:avLst>
              <a:gd name="adj" fmla="val 10000"/>
            </a:avLst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38928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2"/>
                </a:solidFill>
                <a:latin typeface="Manrope"/>
              </a:rPr>
              <a:t>Proof loop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846320"/>
            <a:ext cx="8458200" cy="960120"/>
          </a:xfrm>
          <a:prstGeom prst="roundRect">
            <a:avLst>
              <a:gd name="adj" fmla="val 10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5010912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Manrope"/>
              </a:rPr>
              <a:t>Open contracts + public tape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3492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Verify-on-explorer demos, narrated walkthroughs, open ABIs.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6382512"/>
            <a:ext cx="10881360" cy="19050"/>
          </a:xfrm>
          <a:prstGeom prst="rect">
            <a:avLst/>
          </a:prstGeom>
          <a:solidFill>
            <a:srgbClr val="DDD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pairband.com  ·  Arc testnet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6473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C7369"/>
                </a:solidFill>
                <a:latin typeface="IBM Plex Mono"/>
              </a:rPr>
              <a:t>09  ·  LIVE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Manrope"/>
              </a:rPr>
              <a:t>Check it out on Arc testnet.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6949440" cy="429768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5F5F2"/>
                </a:solidFill>
                <a:latin typeface="Manrope"/>
              </a:rPr>
              <a:t>pairband.com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0604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DDDCD5"/>
                </a:solidFill>
                <a:latin typeface="Manrope"/>
              </a:rPr>
              <a:t>Connect a wallet on Arc testnet. Create a token. Buy and sell on the live launchpad. Discover syncs on-chain markets.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11880"/>
            <a:ext cx="6217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4FB3A5"/>
                </a:solidFill>
                <a:latin typeface="Manrope"/>
              </a:rPr>
              <a:t>✓  Launchpad, AMM factory, settler deployed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4FB3A5"/>
                </a:solidFill>
                <a:latin typeface="Manrope"/>
              </a:rPr>
              <a:t>✓  Create / buy / sell broadcast on-chain by default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4FB3A5"/>
                </a:solidFill>
                <a:latin typeface="Manrope"/>
              </a:rPr>
              <a:t>✓  Discover separates live markets from demo seed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4FB3A5"/>
                </a:solidFill>
                <a:latin typeface="Manrope"/>
              </a:rPr>
              <a:t>✓  Docs at docs.pairband.com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554480"/>
            <a:ext cx="3703320" cy="777240"/>
          </a:xfrm>
          <a:prstGeom prst="roundRect">
            <a:avLst>
              <a:gd name="adj" fmla="val 10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66420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C7369"/>
                </a:solidFill>
                <a:latin typeface="IBM Plex Mono"/>
              </a:rPr>
              <a:t>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92024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</a:rPr>
              <a:t>Arc Testnet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2414016"/>
            <a:ext cx="3703320" cy="777240"/>
          </a:xfrm>
          <a:prstGeom prst="roundRect">
            <a:avLst>
              <a:gd name="adj" fmla="val 10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523744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C7369"/>
                </a:solidFill>
                <a:latin typeface="IBM Plex Mono"/>
              </a:rPr>
              <a:t>GRADUATE 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77977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</a:rPr>
              <a:t>$80 USDC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3273552"/>
            <a:ext cx="3703320" cy="777240"/>
          </a:xfrm>
          <a:prstGeom prst="roundRect">
            <a:avLst>
              <a:gd name="adj" fmla="val 10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33832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C7369"/>
                </a:solidFill>
                <a:latin typeface="IBM Plex Mono"/>
              </a:rPr>
              <a:t>LAUNCH FEE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63931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</a:rPr>
              <a:t>$1 USDC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4133088"/>
            <a:ext cx="3703320" cy="777240"/>
          </a:xfrm>
          <a:prstGeom prst="roundRect">
            <a:avLst>
              <a:gd name="adj" fmla="val 10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242816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C7369"/>
                </a:solidFill>
                <a:latin typeface="IBM Plex Mono"/>
              </a:rPr>
              <a:t>SUPPLY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49884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</a:rPr>
              <a:t>1,000,000,000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4992624"/>
            <a:ext cx="3703320" cy="777240"/>
          </a:xfrm>
          <a:prstGeom prst="roundRect">
            <a:avLst>
              <a:gd name="adj" fmla="val 10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5102352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C7369"/>
                </a:solidFill>
                <a:latin typeface="IBM Plex Mono"/>
              </a:rPr>
              <a:t>CURVE FEES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53583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</a:rPr>
              <a:t>1.0% + 0.5%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382512"/>
            <a:ext cx="10881360" cy="19050"/>
          </a:xfrm>
          <a:prstGeom prst="rect">
            <a:avLst/>
          </a:prstGeom>
          <a:solidFill>
            <a:srgbClr val="DDD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pairband.com  ·  Arc testnet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473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C7369"/>
                </a:solidFill>
                <a:latin typeface="IBM Plex Mono"/>
              </a:rPr>
              <a:t>10  ·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1A1A1A"/>
                </a:solidFill>
                <a:latin typeface="Manrope"/>
              </a:rPr>
              <a:t>Mainnet readiness · 26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2057400"/>
            <a:ext cx="9784080" cy="50800"/>
          </a:xfrm>
          <a:prstGeom prst="rect">
            <a:avLst/>
          </a:prstGeom>
          <a:solidFill>
            <a:srgbClr val="DDD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57400" y="1920240"/>
            <a:ext cx="320040" cy="320040"/>
          </a:xfrm>
          <a:prstGeom prst="ellipse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43000" y="2514600"/>
            <a:ext cx="2423160" cy="306324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74320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C7369"/>
                </a:solidFill>
                <a:latin typeface="IBM Plex Mono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10896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A1A"/>
                </a:solidFill>
                <a:latin typeface="Manrope"/>
              </a:rPr>
              <a:t>Arc testnet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84048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pairband.com
Contracts + app</a:t>
            </a:r>
          </a:p>
        </p:txBody>
      </p:sp>
      <p:sp>
        <p:nvSpPr>
          <p:cNvPr id="11" name="Oval 10"/>
          <p:cNvSpPr/>
          <p:nvPr/>
        </p:nvSpPr>
        <p:spPr>
          <a:xfrm>
            <a:off x="4663440" y="1920240"/>
            <a:ext cx="320040" cy="320040"/>
          </a:xfrm>
          <a:prstGeom prst="ellipse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9040" y="2514600"/>
            <a:ext cx="2423160" cy="306324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274320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C7369"/>
                </a:solidFill>
                <a:latin typeface="IBM Plex Mono"/>
              </a:rPr>
              <a:t>Mid Sep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10896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A1A"/>
                </a:solidFill>
                <a:latin typeface="Manrope"/>
              </a:rPr>
              <a:t>Hardening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84048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Load tests
Security review</a:t>
            </a:r>
          </a:p>
        </p:txBody>
      </p:sp>
      <p:sp>
        <p:nvSpPr>
          <p:cNvPr id="16" name="Oval 15"/>
          <p:cNvSpPr/>
          <p:nvPr/>
        </p:nvSpPr>
        <p:spPr>
          <a:xfrm>
            <a:off x="7269480" y="1920240"/>
            <a:ext cx="320040" cy="320040"/>
          </a:xfrm>
          <a:prstGeom prst="ellipse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423160" cy="3063240"/>
          </a:xfrm>
          <a:prstGeom prst="roundRect">
            <a:avLst>
              <a:gd name="adj" fmla="val 8000"/>
            </a:avLst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74320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F5F2"/>
                </a:solidFill>
                <a:latin typeface="IBM Plex Mono"/>
              </a:rPr>
              <a:t>26 Sep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10896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F5F2"/>
                </a:solidFill>
                <a:latin typeface="Manrope"/>
              </a:rPr>
              <a:t>Mainnet launch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84048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DDDCD5"/>
                </a:solidFill>
                <a:latin typeface="Manrope"/>
              </a:rPr>
              <a:t>Arc mainnet
Same bytecode</a:t>
            </a:r>
          </a:p>
        </p:txBody>
      </p:sp>
      <p:sp>
        <p:nvSpPr>
          <p:cNvPr id="21" name="Oval 20"/>
          <p:cNvSpPr/>
          <p:nvPr/>
        </p:nvSpPr>
        <p:spPr>
          <a:xfrm>
            <a:off x="9875520" y="1920240"/>
            <a:ext cx="320040" cy="320040"/>
          </a:xfrm>
          <a:prstGeom prst="ellipse">
            <a:avLst/>
          </a:prstGeom>
          <a:solidFill>
            <a:srgbClr val="C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61120" y="2514600"/>
            <a:ext cx="2423160" cy="3063240"/>
          </a:xfrm>
          <a:prstGeom prst="roundRect">
            <a:avLst>
              <a:gd name="adj" fmla="val 8000"/>
            </a:avLst>
          </a:prstGeom>
          <a:solidFill>
            <a:srgbClr val="EB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2743200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C7369"/>
                </a:solidFill>
                <a:latin typeface="IBM Plex Mono"/>
              </a:rPr>
              <a:t>Q4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10896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1A1A"/>
                </a:solidFill>
                <a:latin typeface="Manrope"/>
              </a:rPr>
              <a:t>Expand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840480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CCTP UX
Creator tooling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6860"/>
                </a:solidFill>
                <a:latin typeface="Manrope"/>
              </a:rPr>
              <a:t>Future work: identical-bytecode mainnet deploy, production monitoring, CCTP settle UX, creator analytics — never at the cost of LP unlocks.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82512"/>
            <a:ext cx="10881360" cy="19050"/>
          </a:xfrm>
          <a:prstGeom prst="rect">
            <a:avLst/>
          </a:prstGeom>
          <a:solidFill>
            <a:srgbClr val="DDD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pairband.com  ·  Arc testnet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647395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B6860"/>
                </a:solidFill>
                <a:latin typeface="IBM Plex Mono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1600"/>
          </a:xfrm>
          <a:prstGeom prst="rect">
            <a:avLst/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ir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05156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7280" y="2286000"/>
            <a:ext cx="9966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>
                <a:solidFill>
                  <a:srgbClr val="F5F5F2"/>
                </a:solidFill>
                <a:latin typeface="Manrope"/>
              </a:rPr>
              <a:t>Cover the downside.
Launch the market.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70332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DDDCD5"/>
                </a:solidFill>
                <a:latin typeface="Manrope"/>
              </a:rPr>
              <a:t>Pairband is live on Arc testnet. Mainnet target: 26 September 2026.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4480560"/>
            <a:ext cx="4846320" cy="914400"/>
          </a:xfrm>
          <a:prstGeom prst="roundRect">
            <a:avLst>
              <a:gd name="adj" fmla="val 15000"/>
            </a:avLst>
          </a:prstGeom>
          <a:solidFill>
            <a:srgbClr val="3D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470916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5F5F2"/>
                </a:solidFill>
                <a:latin typeface="Manrope"/>
              </a:rPr>
              <a:t>pairband.com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76072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6860"/>
                </a:solidFill>
                <a:latin typeface="IBM Plex Mono"/>
              </a:rPr>
              <a:t>docs.pairband.com  ·  Arc testnet  ·  USDC native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