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101600" cy="6858000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ir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777240" cy="777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737360"/>
            <a:ext cx="3840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4FB3A5"/>
                </a:solidFill>
                <a:latin typeface="IBM Plex Mono"/>
              </a:rPr>
              <a:t>PAIRBAND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38404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5F5F2"/>
                </a:solidFill>
                <a:latin typeface="Manrope"/>
              </a:rPr>
              <a:t>Launch in USDC.
Graduate to a book.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14800"/>
            <a:ext cx="38404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DDDCD5"/>
                </a:solidFill>
                <a:latin typeface="Manrope"/>
              </a:rPr>
              <a:t>The Arc-native launchpad: bonding curve → locked Uniswap LP → on-chain order book. Quoted and gas-paid in USDC.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03520"/>
            <a:ext cx="38404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C4A574"/>
                </a:solidFill>
                <a:latin typeface="IBM Plex Mono"/>
              </a:rPr>
              <a:t>Pitch deck  ·  Arc testnet live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FB3A5"/>
                </a:solidFill>
                <a:latin typeface="IBM Plex Mono"/>
              </a:rPr>
              <a:t>Mainnet target · 26 September 2026</a:t>
            </a:r>
          </a:p>
        </p:txBody>
      </p:sp>
      <p:pic>
        <p:nvPicPr>
          <p:cNvPr id="10" name="Picture 9" descr="pairband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097280"/>
            <a:ext cx="6217920" cy="326440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394960" y="4663440"/>
            <a:ext cx="6217920" cy="137160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4846320"/>
            <a:ext cx="57607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C7369"/>
                </a:solidFill>
                <a:latin typeface="IBM Plex Mono"/>
              </a:rPr>
              <a:t>Live on testnet</a:t>
            </a:r>
          </a:p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A1A1A"/>
                </a:solidFill>
                <a:latin typeface="Manrope"/>
              </a:rPr>
              <a:t>pairband.com  ·  docs.pairband.com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6860"/>
                </a:solidFill>
                <a:latin typeface="Manrope"/>
              </a:rPr>
              <a:t>Connect a wallet on Arc · create, buy, sell on-chain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C7369"/>
                </a:solidFill>
                <a:latin typeface="IBM Plex Mono"/>
              </a:rPr>
              <a:t>01  ·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A1A1A"/>
                </a:solidFill>
                <a:latin typeface="Manrope"/>
              </a:rPr>
              <a:t>Token launches force a bad tradeoff.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515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6B6860"/>
                </a:solidFill>
                <a:latin typeface="Manrope"/>
              </a:rPr>
              <a:t>Most launchpads quote in volatile gas tokens, trap liquidity, or dump creators into thin AMM books with no real price discovery.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349240" cy="164592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76200" cy="1645920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4892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C7369"/>
                </a:solidFill>
                <a:latin typeface="IBM Plex Mon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70632"/>
            <a:ext cx="4892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A1A1A"/>
                </a:solidFill>
                <a:latin typeface="Manrope"/>
              </a:rPr>
              <a:t>Volatile quote asset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36392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6860"/>
                </a:solidFill>
                <a:latin typeface="Manrope"/>
              </a:rPr>
              <a:t>ETH/SOL launches price risk into every buy. Creators and traders manage gas volatility on top of token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86000"/>
            <a:ext cx="5349240" cy="164592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286000"/>
            <a:ext cx="76200" cy="1645920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514600"/>
            <a:ext cx="4892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C7369"/>
                </a:solidFill>
                <a:latin typeface="IBM Plex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70632"/>
            <a:ext cx="4892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A1A1A"/>
                </a:solidFill>
                <a:latin typeface="Manrope"/>
              </a:rPr>
              <a:t>Liquidity that vanishes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136392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6860"/>
                </a:solidFill>
                <a:latin typeface="Manrope"/>
              </a:rPr>
              <a:t>Soft locks and unlock cliffs let early LP exit. Graduates land on empty pools with no depth.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14800"/>
            <a:ext cx="5349240" cy="164592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14800"/>
            <a:ext cx="76200" cy="1645920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343400"/>
            <a:ext cx="4892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C7369"/>
                </a:solidFill>
                <a:latin typeface="IBM Plex Mon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599432"/>
            <a:ext cx="4892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A1A1A"/>
                </a:solidFill>
                <a:latin typeface="Manrope"/>
              </a:rPr>
              <a:t>No post-curve market 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965192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6860"/>
                </a:solidFill>
                <a:latin typeface="Manrope"/>
              </a:rPr>
              <a:t>After the curve, price discovery is a thin AMM or a centralized book. No continuous on-chain CLOB on the same ticket.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14800"/>
            <a:ext cx="5349240" cy="164592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114800"/>
            <a:ext cx="76200" cy="1645920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343400"/>
            <a:ext cx="4892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C7369"/>
                </a:solidFill>
                <a:latin typeface="IBM Plex Mon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599432"/>
            <a:ext cx="4892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A1A1A"/>
                </a:solidFill>
                <a:latin typeface="Manrope"/>
              </a:rPr>
              <a:t>Chain fragmentation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965192"/>
            <a:ext cx="4846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6860"/>
                </a:solidFill>
                <a:latin typeface="Manrope"/>
              </a:rPr>
              <a:t>USDC lives everywhere via CCTP, but launches still demand a single native gas token and a single home chain UX.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6860"/>
                </a:solidFill>
                <a:latin typeface="IBM Plex Mono"/>
              </a:rPr>
              <a:t>pairband.com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B6860"/>
                </a:solidFill>
                <a:latin typeface="IBM Plex Mono"/>
              </a:rPr>
              <a:t>2 / 11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355080"/>
            <a:ext cx="10881360" cy="25400"/>
          </a:xfrm>
          <a:prstGeom prst="rect">
            <a:avLst/>
          </a:prstGeom>
          <a:solidFill>
            <a:srgbClr val="DDD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C7369"/>
                </a:solidFill>
                <a:latin typeface="IBM Plex Mono"/>
              </a:rPr>
              <a:t>02  · 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Manrope"/>
              </a:rPr>
              <a:t>Pairband: USDC-native launch → locked LP → on-chain book.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6B6860"/>
                </a:solidFill>
                <a:latin typeface="Manrope"/>
              </a:rPr>
              <a:t>One ticket. One quote asset. Settlement on Arc — where USDC is gas.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2697480" cy="320040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4FB3A5"/>
                </a:solidFill>
                <a:latin typeface="IBM Plex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08960"/>
            <a:ext cx="2286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5F5F2"/>
                </a:solidFill>
                <a:latin typeface="Manrope"/>
              </a:rPr>
              <a:t>USDC in, USDC 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22860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DDDCD5"/>
                </a:solidFill>
                <a:latin typeface="Manrope"/>
              </a:rPr>
              <a:t>Create, buy, sell, and pay gas in USDC on Arc. No wrapping theater.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468880"/>
            <a:ext cx="2697480" cy="320040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69748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C7369"/>
                </a:solidFill>
                <a:latin typeface="IBM Plex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108960"/>
            <a:ext cx="2286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A1A1A"/>
                </a:solidFill>
                <a:latin typeface="Manrope"/>
              </a:rPr>
              <a:t>Honest graduation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931920"/>
            <a:ext cx="22860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6860"/>
                </a:solidFill>
                <a:latin typeface="Manrope"/>
              </a:rPr>
              <a:t>At $80 raised, remaining inventory + USDC mint a Uniswap-style pair. LP burns to dead. No unlock cliff.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468880"/>
            <a:ext cx="2697480" cy="320040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69748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4FB3A5"/>
                </a:solidFill>
                <a:latin typeface="IBM Plex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108960"/>
            <a:ext cx="2286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5F5F2"/>
                </a:solidFill>
                <a:latin typeface="Manrope"/>
              </a:rPr>
              <a:t>Book on the same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931920"/>
            <a:ext cx="22860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DDDCD5"/>
                </a:solidFill>
                <a:latin typeface="Manrope"/>
              </a:rPr>
              <a:t>An on-chain order book opens on graduation. Markets walk price-time; residual hits the pair.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468880"/>
            <a:ext cx="2697480" cy="320040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269748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C7369"/>
                </a:solidFill>
                <a:latin typeface="IBM Plex Mon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108960"/>
            <a:ext cx="2286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A1A1A"/>
                </a:solidFill>
                <a:latin typeface="Manrope"/>
              </a:rPr>
              <a:t>CCTP-ready settler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931920"/>
            <a:ext cx="22860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6860"/>
                </a:solidFill>
                <a:latin typeface="Manrope"/>
              </a:rPr>
              <a:t>Cross-domain USDC ingest path so buyers can pay from CCTP chains and settle on Arc.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6860"/>
                </a:solidFill>
                <a:latin typeface="IBM Plex Mono"/>
              </a:rPr>
              <a:t>pairband.com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B6860"/>
                </a:solidFill>
                <a:latin typeface="IBM Plex Mono"/>
              </a:rPr>
              <a:t>3 / 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355080"/>
            <a:ext cx="10881360" cy="25400"/>
          </a:xfrm>
          <a:prstGeom prst="rect">
            <a:avLst/>
          </a:prstGeom>
          <a:solidFill>
            <a:srgbClr val="DDD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C7369"/>
                </a:solidFill>
                <a:latin typeface="IBM Plex Mono"/>
              </a:rPr>
              <a:t>03  · 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1A1A"/>
                </a:solidFill>
                <a:latin typeface="Manrope"/>
              </a:rPr>
              <a:t>Three steps. One continuous market.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881360" cy="128016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5F5F2"/>
                </a:solidFill>
                <a:latin typeface="IBM Plex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6596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A1A1A"/>
                </a:solidFill>
                <a:latin typeface="Manrope"/>
              </a:rPr>
              <a:t>Create on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7744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6860"/>
                </a:solidFill>
                <a:latin typeface="Manrope"/>
              </a:rPr>
              <a:t>Name, ticker, optional first buy. 1B supply. $1 USDC launch fee. Quote asset is native Arc USDC — the same token that pays gas.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08960"/>
            <a:ext cx="10881360" cy="128016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3429000"/>
            <a:ext cx="640080" cy="640080"/>
          </a:xfrm>
          <a:prstGeom prst="ellipse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56616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5F5F2"/>
                </a:solidFill>
                <a:latin typeface="IBM Plex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38328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A1A1A"/>
                </a:solidFill>
                <a:latin typeface="Manrope"/>
              </a:rPr>
              <a:t>Fill the USDC curve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79476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6860"/>
                </a:solidFill>
                <a:latin typeface="Manrope"/>
              </a:rPr>
              <a:t>Constant-product bonding curve. 1.0% protocol + 0.5% creator, taken in USDC. Exit anytime on the curve before it fills.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26280"/>
            <a:ext cx="10881360" cy="128016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4846320"/>
            <a:ext cx="640080" cy="640080"/>
          </a:xfrm>
          <a:prstGeom prst="ellipse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98348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5F5F2"/>
                </a:solidFill>
                <a:latin typeface="IBM Plex Mon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800600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A1A1A"/>
                </a:solidFill>
                <a:latin typeface="Manrope"/>
              </a:rPr>
              <a:t>Book, then Uniswap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21208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6860"/>
                </a:solidFill>
                <a:latin typeface="Manrope"/>
              </a:rPr>
              <a:t>At $80 the inventory + USDC mint a locked pair. On-chain book opens. Markets walk the book; leftover hits the pair at 0.30%. LP → 0xdead.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6860"/>
                </a:solidFill>
                <a:latin typeface="IBM Plex Mono"/>
              </a:rPr>
              <a:t>pairband.com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B6860"/>
                </a:solidFill>
                <a:latin typeface="IBM Plex Mono"/>
              </a:rPr>
              <a:t>4 / 11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355080"/>
            <a:ext cx="10881360" cy="25400"/>
          </a:xfrm>
          <a:prstGeom prst="rect">
            <a:avLst/>
          </a:prstGeom>
          <a:solidFill>
            <a:srgbClr val="DDD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C7369"/>
                </a:solidFill>
                <a:latin typeface="IBM Plex Mono"/>
              </a:rPr>
              <a:t>04  ·  WHY PAIRBAND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Manrope"/>
              </a:rPr>
              <a:t>Not another meme factory. Market structure as product.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881360" cy="50292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5F5F2"/>
                </a:solidFill>
                <a:latin typeface="IBM Plex Mono"/>
              </a:rPr>
              <a:t>Dimension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78308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DDCD5"/>
                </a:solidFill>
                <a:latin typeface="IBM Plex Mono"/>
              </a:rPr>
              <a:t>Typical launchpad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83080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4FB3A5"/>
                </a:solidFill>
                <a:latin typeface="IBM Plex Mono"/>
              </a:rPr>
              <a:t>Pairband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0280"/>
            <a:ext cx="10881360" cy="54864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50008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Manrope"/>
              </a:rPr>
              <a:t>Quote asset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350008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6860"/>
                </a:solidFill>
                <a:latin typeface="Manrope"/>
              </a:rPr>
              <a:t>Volatile gas token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350008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C7369"/>
                </a:solidFill>
                <a:latin typeface="Manrope"/>
              </a:rPr>
              <a:t>USDC (gas + quote)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40"/>
            <a:ext cx="10881360" cy="548640"/>
          </a:xfrm>
          <a:prstGeom prst="roundRect">
            <a:avLst>
              <a:gd name="adj" fmla="val 12000"/>
            </a:avLst>
          </a:prstGeom>
          <a:solidFill>
            <a:srgbClr val="F5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944368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Manrope"/>
              </a:rPr>
              <a:t>Graduation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944368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6860"/>
                </a:solidFill>
                <a:latin typeface="Manrope"/>
              </a:rPr>
              <a:t>Optional / soft 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944368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C7369"/>
                </a:solidFill>
                <a:latin typeface="Manrope"/>
              </a:rPr>
              <a:t>Hard threshold · LP burned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29000"/>
            <a:ext cx="10881360" cy="54864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538728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Manrope"/>
              </a:rPr>
              <a:t>Post-curve 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538728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6860"/>
                </a:solidFill>
                <a:latin typeface="Manrope"/>
              </a:rPr>
              <a:t>Thin AMM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538728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C7369"/>
                </a:solidFill>
                <a:latin typeface="Manrope"/>
              </a:rPr>
              <a:t>On-chain book + AMM residual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23360"/>
            <a:ext cx="10881360" cy="548640"/>
          </a:xfrm>
          <a:prstGeom prst="roundRect">
            <a:avLst>
              <a:gd name="adj" fmla="val 12000"/>
            </a:avLst>
          </a:prstGeom>
          <a:solidFill>
            <a:srgbClr val="F5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33088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Manrope"/>
              </a:rPr>
              <a:t>Fees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133088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6860"/>
                </a:solidFill>
                <a:latin typeface="Manrope"/>
              </a:rPr>
              <a:t>Opaque token cuts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133088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C7369"/>
                </a:solidFill>
                <a:latin typeface="Manrope"/>
              </a:rPr>
              <a:t>Transparent USDC fees on curve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617720"/>
            <a:ext cx="10881360" cy="54864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727448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Manrope"/>
              </a:rPr>
              <a:t>Settlement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727448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6860"/>
                </a:solidFill>
                <a:latin typeface="Manrope"/>
              </a:rPr>
              <a:t>Single L1/L2 silo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727448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C7369"/>
                </a:solidFill>
                <a:latin typeface="Manrope"/>
              </a:rPr>
              <a:t>Arc home · CCTP ingest path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212080"/>
            <a:ext cx="10881360" cy="548640"/>
          </a:xfrm>
          <a:prstGeom prst="roundRect">
            <a:avLst>
              <a:gd name="adj" fmla="val 12000"/>
            </a:avLst>
          </a:prstGeom>
          <a:solidFill>
            <a:srgbClr val="F5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321808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Manrope"/>
              </a:rPr>
              <a:t>UX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321808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6860"/>
                </a:solidFill>
                <a:latin typeface="Manrope"/>
              </a:rPr>
              <a:t>Casino chrome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5321808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C7369"/>
                </a:solidFill>
                <a:latin typeface="Manrope"/>
              </a:rPr>
              <a:t>Paper / desk — Pairband brand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6860"/>
                </a:solidFill>
                <a:latin typeface="IBM Plex Mono"/>
              </a:rPr>
              <a:t>pairband.com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B6860"/>
                </a:solidFill>
                <a:latin typeface="IBM Plex Mono"/>
              </a:rPr>
              <a:t>5 / 11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6355080"/>
            <a:ext cx="10881360" cy="25400"/>
          </a:xfrm>
          <a:prstGeom prst="rect">
            <a:avLst/>
          </a:prstGeom>
          <a:solidFill>
            <a:srgbClr val="DDD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C7369"/>
                </a:solidFill>
                <a:latin typeface="IBM Plex Mono"/>
              </a:rPr>
              <a:t>05  · 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1A1A"/>
                </a:solidFill>
                <a:latin typeface="Manrope"/>
              </a:rPr>
              <a:t>Contracts on Arc. App that speaks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611880" cy="420624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4FB3A5"/>
                </a:solidFill>
                <a:latin typeface="Manrope"/>
              </a:rPr>
              <a:t>On-chain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DDDCD5"/>
                </a:solidFill>
                <a:latin typeface="Manrope"/>
              </a:rPr>
              <a:t>▸  PairbandLaunchpad — create / buy / sell / graduate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DDDCD5"/>
                </a:solidFill>
                <a:latin typeface="Manrope"/>
              </a:rPr>
              <a:t>▸  Bonding curve math (constant product, USDC 6-dec)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DDDCD5"/>
                </a:solidFill>
                <a:latin typeface="Manrope"/>
              </a:rPr>
              <a:t>▸  AmmFactory + pair — LP burned on graduate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DDDCD5"/>
                </a:solidFill>
                <a:latin typeface="Manrope"/>
              </a:rPr>
              <a:t>▸  On-chain order book (price-time)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DDDCD5"/>
                </a:solidFill>
                <a:latin typeface="Manrope"/>
              </a:rPr>
              <a:t>▸  Settler — CCTP ingest / settle path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DDDCD5"/>
                </a:solidFill>
                <a:latin typeface="Manrope"/>
              </a:rPr>
              <a:t>▸  Arc testnet 5042002 · mainnet 5042 ready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91640"/>
            <a:ext cx="3611880" cy="420624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92024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C7369"/>
                </a:solidFill>
                <a:latin typeface="Manrope"/>
              </a:rPr>
              <a:t>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4231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6B6860"/>
                </a:solidFill>
                <a:latin typeface="Manrope"/>
              </a:rPr>
              <a:t>▸  TanStack Start + React 19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6B6860"/>
                </a:solidFill>
                <a:latin typeface="Manrope"/>
              </a:rPr>
              <a:t>▸  wagmi / viem wallet path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6B6860"/>
                </a:solidFill>
                <a:latin typeface="Manrope"/>
              </a:rPr>
              <a:t>▸  Discover syncs live launchCount + getLaunch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6B6860"/>
                </a:solidFill>
                <a:latin typeface="Manrope"/>
              </a:rPr>
              <a:t>▸  Create / trade default to Arc txs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6B6860"/>
                </a:solidFill>
                <a:latin typeface="Manrope"/>
              </a:rPr>
              <a:t>▸  Local preview engine mirrors curve math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6B6860"/>
                </a:solidFill>
                <a:latin typeface="Manrope"/>
              </a:rPr>
              <a:t>▸  Docs at docs.pairband.com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91640"/>
            <a:ext cx="3611880" cy="420624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92024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C7369"/>
                </a:solidFill>
                <a:latin typeface="Manrope"/>
              </a:rPr>
              <a:t>Stack principles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4231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6B6860"/>
                </a:solidFill>
                <a:latin typeface="Manrope"/>
              </a:rPr>
              <a:t>▸  No proxies · no delegatecall on launchpad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6B6860"/>
                </a:solidFill>
                <a:latin typeface="Manrope"/>
              </a:rPr>
              <a:t>▸  CEI + reentrancy lock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6B6860"/>
                </a:solidFill>
                <a:latin typeface="Manrope"/>
              </a:rPr>
              <a:t>▸  Fees capped in code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6B6860"/>
                </a:solidFill>
                <a:latin typeface="Manrope"/>
              </a:rPr>
              <a:t>▸  USDC as gas and quote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6B6860"/>
                </a:solidFill>
                <a:latin typeface="Manrope"/>
              </a:rPr>
              <a:t>▸  Same bytecode testnet → mainnet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6B6860"/>
                </a:solidFill>
                <a:latin typeface="Manrope"/>
              </a:rPr>
              <a:t>▸  Ops keys never in the browser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6860"/>
                </a:solidFill>
                <a:latin typeface="IBM Plex Mono"/>
              </a:rPr>
              <a:t>pairband.com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B6860"/>
                </a:solidFill>
                <a:latin typeface="IBM Plex Mono"/>
              </a:rPr>
              <a:t>6 / 11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355080"/>
            <a:ext cx="10881360" cy="25400"/>
          </a:xfrm>
          <a:prstGeom prst="rect">
            <a:avLst/>
          </a:prstGeom>
          <a:solidFill>
            <a:srgbClr val="DDD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C7369"/>
                </a:solidFill>
                <a:latin typeface="IBM Plex Mono"/>
              </a:rPr>
              <a:t>06  · 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Manrope"/>
              </a:rPr>
              <a:t>Aligned fees in the asset everyone already holds.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697480" cy="2011680"/>
          </a:xfrm>
          <a:prstGeom prst="roundRect">
            <a:avLst>
              <a:gd name="adj" fmla="val 12000"/>
            </a:avLst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2286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5F5F2"/>
                </a:solidFill>
                <a:latin typeface="Manrope"/>
              </a:rPr>
              <a:t>$1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5F5F2"/>
                </a:solidFill>
                <a:latin typeface="Manrope"/>
              </a:rPr>
              <a:t>Launch fee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08960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DDDCD5"/>
                </a:solidFill>
                <a:latin typeface="Manrope"/>
              </a:rPr>
              <a:t>Paid in USDC on create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737360"/>
            <a:ext cx="2697480" cy="201168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965960"/>
            <a:ext cx="2286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A1A1A"/>
                </a:solidFill>
                <a:latin typeface="Manrope"/>
              </a:rPr>
              <a:t>1.0%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69748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Manrope"/>
              </a:rPr>
              <a:t>Protocol fee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108960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6860"/>
                </a:solidFill>
                <a:latin typeface="Manrope"/>
              </a:rPr>
              <a:t>On curve volume (USDC)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737360"/>
            <a:ext cx="2697480" cy="201168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2286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A1A1A"/>
                </a:solidFill>
                <a:latin typeface="Manrope"/>
              </a:rPr>
              <a:t>0.5%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69748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Manrope"/>
              </a:rPr>
              <a:t>Creator fee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108960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6860"/>
                </a:solidFill>
                <a:latin typeface="Manrope"/>
              </a:rPr>
              <a:t>On curve volume (USDC)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737360"/>
            <a:ext cx="2697480" cy="201168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965960"/>
            <a:ext cx="2286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A1A1A"/>
                </a:solidFill>
                <a:latin typeface="Manrope"/>
              </a:rPr>
              <a:t>0.30%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69748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Manrope"/>
              </a:rPr>
              <a:t>Post-grad AMM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108960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6860"/>
                </a:solidFill>
                <a:latin typeface="Manrope"/>
              </a:rPr>
              <a:t>Uniswap-style residual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23360"/>
            <a:ext cx="10881360" cy="192024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51960"/>
            <a:ext cx="10332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4FB3A5"/>
                </a:solidFill>
                <a:latin typeface="IBM Plex Mono"/>
              </a:rPr>
              <a:t>Unit economics that scale with usage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09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DDDCD5"/>
                </a:solidFill>
                <a:latin typeface="Manrope"/>
              </a:rPr>
              <a:t>▸  Protocol earns on every curve trade — not on inflationary token emissions.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DDDCD5"/>
                </a:solidFill>
                <a:latin typeface="Manrope"/>
              </a:rPr>
              <a:t>▸  Creators earn 0.5% of their own volume — incentive to ship real markets, not rug chrome.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DDDCD5"/>
                </a:solidFill>
                <a:latin typeface="Manrope"/>
              </a:rPr>
              <a:t>▸  Graduation burns LP: Pairband does not extract unlock value from trapped liquidity.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6860"/>
                </a:solidFill>
                <a:latin typeface="IBM Plex Mono"/>
              </a:rPr>
              <a:t>pairband.com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B6860"/>
                </a:solidFill>
                <a:latin typeface="IBM Plex Mono"/>
              </a:rPr>
              <a:t>7 / 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355080"/>
            <a:ext cx="10881360" cy="25400"/>
          </a:xfrm>
          <a:prstGeom prst="rect">
            <a:avLst/>
          </a:prstGeom>
          <a:solidFill>
            <a:srgbClr val="DDD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C7369"/>
                </a:solidFill>
                <a:latin typeface="IBM Plex Mono"/>
              </a:rPr>
              <a:t>07  ·  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A1A1A"/>
                </a:solidFill>
                <a:latin typeface="Manrope"/>
              </a:rPr>
              <a:t>Ship where USDC already settles.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920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5F5F2"/>
                </a:solidFill>
                <a:latin typeface="Manrope"/>
              </a:rPr>
              <a:t>Beachhead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691640"/>
            <a:ext cx="8595360" cy="91440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80" y="1828800"/>
            <a:ext cx="8229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Manrope"/>
              </a:rPr>
              <a:t>Arc builders &amp; USDC-native traders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148840"/>
            <a:ext cx="8229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6860"/>
                </a:solidFill>
                <a:latin typeface="Manrope"/>
              </a:rPr>
              <a:t>Live testnet at pairband.com. Docs, smoke markets, wallet-connected create/trade.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1920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5F5F2"/>
                </a:solidFill>
                <a:latin typeface="Manrope"/>
              </a:rPr>
              <a:t>Creator wedge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743200"/>
            <a:ext cx="8595360" cy="91440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2880360"/>
            <a:ext cx="8229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Manrope"/>
              </a:rPr>
              <a:t>Teams who want locked LP + a real 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200400"/>
            <a:ext cx="8229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6860"/>
                </a:solidFill>
                <a:latin typeface="Manrope"/>
              </a:rPr>
              <a:t>Pitch: graduate without unlock politics; keep a CLOB on the same ticker.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9476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69080"/>
            <a:ext cx="1920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5F5F2"/>
                </a:solidFill>
                <a:latin typeface="Manrope"/>
              </a:rPr>
              <a:t>Distribution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794760"/>
            <a:ext cx="8595360" cy="91440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3931920"/>
            <a:ext cx="8229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Manrope"/>
              </a:rPr>
              <a:t>Arc / Circle / CCTP ecosystem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4251960"/>
            <a:ext cx="8229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6860"/>
                </a:solidFill>
                <a:latin typeface="Manrope"/>
              </a:rPr>
              <a:t>Co-market with Arc testnet campaigns; CCTP “pay from anywhere, settle on Arc” story.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84632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120640"/>
            <a:ext cx="1920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5F5F2"/>
                </a:solidFill>
                <a:latin typeface="Manrope"/>
              </a:rPr>
              <a:t>Content loop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4846320"/>
            <a:ext cx="8595360" cy="91440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80" y="4983480"/>
            <a:ext cx="8229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Manrope"/>
              </a:rPr>
              <a:t>Tape + demos + open contracts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5303520"/>
            <a:ext cx="8229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6860"/>
                </a:solidFill>
                <a:latin typeface="Manrope"/>
              </a:rPr>
              <a:t>Public DEMO hashes, narrated product video, open ABIs — trust through verify.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6860"/>
                </a:solidFill>
                <a:latin typeface="IBM Plex Mono"/>
              </a:rPr>
              <a:t>pairband.com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B6860"/>
                </a:solidFill>
                <a:latin typeface="IBM Plex Mono"/>
              </a:rPr>
              <a:t>8 / 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355080"/>
            <a:ext cx="10881360" cy="25400"/>
          </a:xfrm>
          <a:prstGeom prst="rect">
            <a:avLst/>
          </a:prstGeom>
          <a:solidFill>
            <a:srgbClr val="DDD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C7369"/>
                </a:solidFill>
                <a:latin typeface="IBM Plex Mono"/>
              </a:rPr>
              <a:t>08  ·  LIVE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A1A1A"/>
                </a:solidFill>
                <a:latin typeface="Manrope"/>
              </a:rPr>
              <a:t>Check it out on Arc testnet.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6858000" cy="411480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6217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5F5F2"/>
                </a:solidFill>
                <a:latin typeface="Manrope"/>
              </a:rPr>
              <a:t>pairband.com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62179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DDDCD5"/>
                </a:solidFill>
                <a:latin typeface="Manrope"/>
              </a:rPr>
              <a:t>Connect a wallet on Arc testnet. Create a token. Buy and sell on the live launchpad. Discover syncs on-chain markets.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4FB3A5"/>
                </a:solidFill>
                <a:latin typeface="Manrope"/>
              </a:rPr>
              <a:t>✓  Launchpad, AMM factory, settler deployed &amp; verified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4FB3A5"/>
                </a:solidFill>
                <a:latin typeface="Manrope"/>
              </a:rPr>
              <a:t>✓  Create / buy / sell broadcast on-chain by default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4FB3A5"/>
                </a:solidFill>
                <a:latin typeface="Manrope"/>
              </a:rPr>
              <a:t>✓  Discover separates live markets from local demo seed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4FB3A5"/>
                </a:solidFill>
                <a:latin typeface="Manrope"/>
              </a:rPr>
              <a:t>✓  Docs: docs.pairband.com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691640"/>
            <a:ext cx="3749039" cy="73152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801368"/>
            <a:ext cx="3383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2C7369"/>
                </a:solidFill>
                <a:latin typeface="IBM Plex Mono"/>
              </a:rPr>
              <a:t>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039112"/>
            <a:ext cx="3383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Manrope"/>
              </a:rPr>
              <a:t>Arc Testnet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514600"/>
            <a:ext cx="3749039" cy="73152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2624328"/>
            <a:ext cx="3383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2C7369"/>
                </a:solidFill>
                <a:latin typeface="IBM Plex Mono"/>
              </a:rPr>
              <a:t>GRADUATE 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862072"/>
            <a:ext cx="3383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Manrope"/>
              </a:rPr>
              <a:t>$80 USDC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337560"/>
            <a:ext cx="3749039" cy="73152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3447288"/>
            <a:ext cx="3383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2C7369"/>
                </a:solidFill>
                <a:latin typeface="IBM Plex Mono"/>
              </a:rPr>
              <a:t>LAUNCH FEE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685032"/>
            <a:ext cx="3383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Manrope"/>
              </a:rPr>
              <a:t>$1 USDC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4160520"/>
            <a:ext cx="3749039" cy="73152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4270248"/>
            <a:ext cx="3383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2C7369"/>
                </a:solidFill>
                <a:latin typeface="IBM Plex Mono"/>
              </a:rPr>
              <a:t>SUPPLY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507992"/>
            <a:ext cx="3383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Manrope"/>
              </a:rPr>
              <a:t>1,000,000,000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4983480"/>
            <a:ext cx="3749039" cy="73152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5093208"/>
            <a:ext cx="3383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2C7369"/>
                </a:solidFill>
                <a:latin typeface="IBM Plex Mono"/>
              </a:rPr>
              <a:t>CURVE FEES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5330952"/>
            <a:ext cx="3383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Manrope"/>
              </a:rPr>
              <a:t>1.0% + 0.5%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6860"/>
                </a:solidFill>
                <a:latin typeface="IBM Plex Mono"/>
              </a:rPr>
              <a:t>pairband.com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B6860"/>
                </a:solidFill>
                <a:latin typeface="IBM Plex Mono"/>
              </a:rPr>
              <a:t>9 / 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355080"/>
            <a:ext cx="10881360" cy="25400"/>
          </a:xfrm>
          <a:prstGeom prst="rect">
            <a:avLst/>
          </a:prstGeom>
          <a:solidFill>
            <a:srgbClr val="DDD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C7369"/>
                </a:solidFill>
                <a:latin typeface="IBM Plex Mono"/>
              </a:rPr>
              <a:t>09  · 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A1A1A"/>
                </a:solidFill>
                <a:latin typeface="Manrope"/>
              </a:rPr>
              <a:t>Mainnet readiness · launch 26 September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148840"/>
            <a:ext cx="9875520" cy="50800"/>
          </a:xfrm>
          <a:prstGeom prst="rect">
            <a:avLst/>
          </a:prstGeom>
          <a:solidFill>
            <a:srgbClr val="DDD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65960" y="2011680"/>
            <a:ext cx="320040" cy="320040"/>
          </a:xfrm>
          <a:prstGeom prst="ellipse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560320"/>
            <a:ext cx="2377440" cy="301752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788920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C7369"/>
                </a:solidFill>
                <a:latin typeface="IBM Plex Mono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154680"/>
            <a:ext cx="2011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A1A1A"/>
                </a:solidFill>
                <a:latin typeface="Manrope"/>
              </a:rPr>
              <a:t>Arc testnet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840480"/>
            <a:ext cx="20116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6860"/>
                </a:solidFill>
                <a:latin typeface="Manrope"/>
              </a:rPr>
              <a:t>pairband.com
Contracts + app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0" y="2011680"/>
            <a:ext cx="320040" cy="320040"/>
          </a:xfrm>
          <a:prstGeom prst="ellipse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03320" y="2560320"/>
            <a:ext cx="2377440" cy="301752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C7369"/>
                </a:solidFill>
                <a:latin typeface="IBM Plex Mono"/>
              </a:rPr>
              <a:t>Mid Sep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154680"/>
            <a:ext cx="2011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A1A1A"/>
                </a:solidFill>
                <a:latin typeface="Manrope"/>
              </a:rPr>
              <a:t>Hardening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840480"/>
            <a:ext cx="20116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6860"/>
                </a:solidFill>
                <a:latin typeface="Manrope"/>
              </a:rPr>
              <a:t>Load tests
Security review</a:t>
            </a:r>
          </a:p>
        </p:txBody>
      </p:sp>
      <p:sp>
        <p:nvSpPr>
          <p:cNvPr id="16" name="Oval 15"/>
          <p:cNvSpPr/>
          <p:nvPr/>
        </p:nvSpPr>
        <p:spPr>
          <a:xfrm>
            <a:off x="7178040" y="2011680"/>
            <a:ext cx="320040" cy="320040"/>
          </a:xfrm>
          <a:prstGeom prst="ellipse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2560320"/>
            <a:ext cx="2377440" cy="3017520"/>
          </a:xfrm>
          <a:prstGeom prst="roundRect">
            <a:avLst>
              <a:gd name="adj" fmla="val 12000"/>
            </a:avLst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788920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5F5F2"/>
                </a:solidFill>
                <a:latin typeface="IBM Plex Mono"/>
              </a:rPr>
              <a:t>26 Sep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154680"/>
            <a:ext cx="2011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5F5F2"/>
                </a:solidFill>
                <a:latin typeface="Manrope"/>
              </a:rPr>
              <a:t>Mainnet launch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40480"/>
            <a:ext cx="20116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DDDCD5"/>
                </a:solidFill>
                <a:latin typeface="Manrope"/>
              </a:rPr>
              <a:t>Arc 5042
Same bytecode</a:t>
            </a:r>
          </a:p>
        </p:txBody>
      </p:sp>
      <p:sp>
        <p:nvSpPr>
          <p:cNvPr id="21" name="Oval 20"/>
          <p:cNvSpPr/>
          <p:nvPr/>
        </p:nvSpPr>
        <p:spPr>
          <a:xfrm>
            <a:off x="9784080" y="2011680"/>
            <a:ext cx="320040" cy="320040"/>
          </a:xfrm>
          <a:prstGeom prst="ellipse">
            <a:avLst/>
          </a:prstGeom>
          <a:solidFill>
            <a:srgbClr val="C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15400" y="2560320"/>
            <a:ext cx="2377440" cy="3017520"/>
          </a:xfrm>
          <a:prstGeom prst="roundRect">
            <a:avLst>
              <a:gd name="adj" fmla="val 12000"/>
            </a:avLst>
          </a:prstGeom>
          <a:solidFill>
            <a:srgbClr val="EB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2788920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C7369"/>
                </a:solidFill>
                <a:latin typeface="IBM Plex Mono"/>
              </a:rPr>
              <a:t>Q4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3154680"/>
            <a:ext cx="2011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A1A1A"/>
                </a:solidFill>
                <a:latin typeface="Manrope"/>
              </a:rPr>
              <a:t>Expand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840480"/>
            <a:ext cx="20116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6860"/>
                </a:solidFill>
                <a:latin typeface="Manrope"/>
              </a:rPr>
              <a:t>CCTP UX
Creator tooling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06440"/>
            <a:ext cx="10881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B6860"/>
                </a:solidFill>
                <a:latin typeface="Manrope"/>
              </a:rPr>
              <a:t>Future work: mainnet deploy of identical bytecode, production monitoring, CCTP settle UX polish, creator analytics, optional agent tooling — never at the cost of LP unlocks.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6860"/>
                </a:solidFill>
                <a:latin typeface="IBM Plex Mono"/>
              </a:rPr>
              <a:t>pairband.com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6B6860"/>
                </a:solidFill>
                <a:latin typeface="IBM Plex Mono"/>
              </a:rPr>
              <a:t>10 / 11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355080"/>
            <a:ext cx="10881360" cy="25400"/>
          </a:xfrm>
          <a:prstGeom prst="rect">
            <a:avLst/>
          </a:prstGeom>
          <a:solidFill>
            <a:srgbClr val="DDD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ir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09728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2286000"/>
            <a:ext cx="9418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F5F5F2"/>
                </a:solidFill>
                <a:latin typeface="Manrope"/>
              </a:rPr>
              <a:t>Cover the downside.
Launch the market.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503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DDDCD5"/>
                </a:solidFill>
                <a:latin typeface="Manrope"/>
              </a:rPr>
              <a:t>Pairband is live on Arc testnet. Mainnet target: 26 September 2026.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4572000"/>
            <a:ext cx="4846320" cy="914400"/>
          </a:xfrm>
          <a:prstGeom prst="roundRect">
            <a:avLst>
              <a:gd name="adj" fmla="val 12000"/>
            </a:avLst>
          </a:prstGeom>
          <a:solidFill>
            <a:srgbClr val="3D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4800600"/>
            <a:ext cx="4846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F5F5F2"/>
                </a:solidFill>
                <a:latin typeface="Manrope"/>
              </a:rPr>
              <a:t>pairband.com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852160"/>
            <a:ext cx="9418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6B6860"/>
                </a:solidFill>
                <a:latin typeface="IBM Plex Mono"/>
              </a:rPr>
              <a:t>docs.pairband.com  ·  Arc testnet  ·  USDC native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